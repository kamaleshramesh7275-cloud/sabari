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F0DF3B-DF11-4A02-B837-910305CABE6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49FA7C-A779-489C-B419-189DF37693A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B4AB92-A4F4-4334-976B-8901511A8C4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97F724-901F-4C88-9F2E-E69062780EA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8BB568-3D6C-49E5-A85F-C7504FF94C90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B50DDA-0818-4FC0-A4AB-77F6C6EB2B7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3259CA-4E73-48D5-8619-A7678478680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C8B00-9C40-4541-BFC9-94A88D45969C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0BB55B-7766-41E4-957E-1D391DAE906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FA6EDE-8C43-4C4D-8208-6B909650C68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EAD9E5-770D-4FFE-A98F-35D7AA1A42D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4;p1"/>
          <p:cNvSpPr/>
          <p:nvPr/>
        </p:nvSpPr>
        <p:spPr>
          <a:xfrm>
            <a:off x="1980000" y="3420000"/>
            <a:ext cx="4715280" cy="23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algn="ctr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IN" sz="25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SENSEGuard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IN" sz="25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Embedded Sensor Integrity &amp; Fault Diagnosis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IN" sz="25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by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IN" sz="25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BYTECRAFT 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85;p1" descr="GECA CSN LOGO.jpeg"/>
          <p:cNvPicPr/>
          <p:nvPr/>
        </p:nvPicPr>
        <p:blipFill>
          <a:blip r:embed="rId1"/>
          <a:stretch/>
        </p:blipFill>
        <p:spPr>
          <a:xfrm>
            <a:off x="529200" y="1257120"/>
            <a:ext cx="1198080" cy="11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86;p1"/>
          <p:cNvSpPr/>
          <p:nvPr/>
        </p:nvSpPr>
        <p:spPr>
          <a:xfrm>
            <a:off x="761400" y="546120"/>
            <a:ext cx="7571520" cy="270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ANKURGECA INCUBATION CENTRE FOUNDATION (AICF)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License under section 8 (1) of the Companies Act, 2013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aegis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Government College of Engineering Aurangabad, Chhatrapati Sambhajinagar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(An Autonomous Institute of Government of Maharashtra)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87;p1" descr=""/>
          <p:cNvPicPr/>
          <p:nvPr/>
        </p:nvPicPr>
        <p:blipFill>
          <a:blip r:embed="rId2"/>
          <a:stretch/>
        </p:blipFill>
        <p:spPr>
          <a:xfrm>
            <a:off x="7675920" y="1257120"/>
            <a:ext cx="997200" cy="100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87"/>
          <p:cNvSpPr/>
          <p:nvPr/>
        </p:nvSpPr>
        <p:spPr>
          <a:xfrm>
            <a:off x="900000" y="594000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300" strike="noStrike" u="none">
                <a:solidFill>
                  <a:srgbClr val="009999"/>
                </a:solidFill>
                <a:effectLst/>
                <a:uFillTx/>
                <a:latin typeface="Aptos"/>
                <a:ea typeface="Arial"/>
              </a:rPr>
              <a:t>Can a low-cost microcontroller tell a real process fault from a faulty measurement?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00000" y="1800000"/>
            <a:ext cx="5972040" cy="162000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SENSEGuard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400440" cy="270000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t">
            <a:normAutofit fontScale="32500" lnSpcReduction="19999"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8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Embedded Sensor Integrity &amp; Fault Diagnosis System</a:t>
            </a:r>
            <a:endParaRPr b="1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2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Presented to: IDEATHON 10.0 – AICF</a:t>
            </a:r>
            <a:endParaRPr b="1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8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Date: 20/10/2026</a:t>
            </a:r>
            <a:endParaRPr b="1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0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Concept-stage engineering prototype proposal</a:t>
            </a:r>
            <a:endParaRPr b="1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0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Team: BYTECRAFT | Members: Sabarish R</a:t>
            </a:r>
            <a:endParaRPr b="1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4000" strike="noStrike" u="none">
                <a:solidFill>
                  <a:srgbClr val="23303e"/>
                </a:solidFill>
                <a:effectLst/>
                <a:uFillTx/>
                <a:latin typeface="Arial"/>
                <a:ea typeface="Calibri"/>
              </a:rPr>
              <a:t>                                                         Sahana M S</a:t>
            </a:r>
            <a:endParaRPr b="1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1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31640" algn="ctr">
              <a:lnSpc>
                <a:spcPct val="100000"/>
              </a:lnSpc>
              <a:spcBef>
                <a:spcPts val="64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1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94;p2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Problem Statement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Google Shape;101;p3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101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" name="TextBox 102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When a sensor reports an abnormal value, the system may not know whether the process or the measurement has failed.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03"/>
          <p:cNvSpPr/>
          <p:nvPr/>
        </p:nvSpPr>
        <p:spPr>
          <a:xfrm>
            <a:off x="548640" y="2057400"/>
            <a:ext cx="2514240" cy="20113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" name="Rectangle 104"/>
          <p:cNvSpPr/>
          <p:nvPr/>
        </p:nvSpPr>
        <p:spPr>
          <a:xfrm>
            <a:off x="548640" y="2057400"/>
            <a:ext cx="63720" cy="2011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3" name="TextBox 105"/>
          <p:cNvSpPr/>
          <p:nvPr/>
        </p:nvSpPr>
        <p:spPr>
          <a:xfrm>
            <a:off x="694800" y="214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01  False alarms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6"/>
          <p:cNvSpPr/>
          <p:nvPr/>
        </p:nvSpPr>
        <p:spPr>
          <a:xfrm>
            <a:off x="694800" y="2532960"/>
            <a:ext cx="22582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A noisy, drifting or disconnected sensor can trigger misleading warnings.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07"/>
          <p:cNvSpPr/>
          <p:nvPr/>
        </p:nvSpPr>
        <p:spPr>
          <a:xfrm>
            <a:off x="3291840" y="2057400"/>
            <a:ext cx="2514240" cy="20113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6" name="Rectangle 108"/>
          <p:cNvSpPr/>
          <p:nvPr/>
        </p:nvSpPr>
        <p:spPr>
          <a:xfrm>
            <a:off x="3291840" y="2057400"/>
            <a:ext cx="63720" cy="201132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7" name="TextBox 109"/>
          <p:cNvSpPr/>
          <p:nvPr/>
        </p:nvSpPr>
        <p:spPr>
          <a:xfrm>
            <a:off x="3438000" y="214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02  Hidden faults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0"/>
          <p:cNvSpPr/>
          <p:nvPr/>
        </p:nvSpPr>
        <p:spPr>
          <a:xfrm>
            <a:off x="3438000" y="2532960"/>
            <a:ext cx="22582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A stuck sensor may keep reporting a plausible value while the real process changes.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11"/>
          <p:cNvSpPr/>
          <p:nvPr/>
        </p:nvSpPr>
        <p:spPr>
          <a:xfrm>
            <a:off x="6035040" y="2057400"/>
            <a:ext cx="2514240" cy="20113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0" name="Rectangle 112"/>
          <p:cNvSpPr/>
          <p:nvPr/>
        </p:nvSpPr>
        <p:spPr>
          <a:xfrm>
            <a:off x="6035040" y="2057400"/>
            <a:ext cx="63720" cy="201132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" name="TextBox 113"/>
          <p:cNvSpPr/>
          <p:nvPr/>
        </p:nvSpPr>
        <p:spPr>
          <a:xfrm>
            <a:off x="6181200" y="214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03  Trust gap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4"/>
          <p:cNvSpPr/>
          <p:nvPr/>
        </p:nvSpPr>
        <p:spPr>
          <a:xfrm>
            <a:off x="6181200" y="2532960"/>
            <a:ext cx="22582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Operators need to know whether a measurement is reliable before acting on it.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15"/>
          <p:cNvSpPr/>
          <p:nvPr/>
        </p:nvSpPr>
        <p:spPr>
          <a:xfrm>
            <a:off x="685800" y="457200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7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Target use case: temperature monitoring on equipment or a small process rig.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7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Core question: can embedded logic distinguish process changes from sensor faults?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Solution Overview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Google Shape;108;p4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108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" name="TextBox 109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A small embedded device that checks measurement plausibility before raising a diagnosis.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10"/>
          <p:cNvSpPr/>
          <p:nvPr/>
        </p:nvSpPr>
        <p:spPr>
          <a:xfrm>
            <a:off x="502920" y="2057400"/>
            <a:ext cx="1828440" cy="18741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9" name="Rectangle 111"/>
          <p:cNvSpPr/>
          <p:nvPr/>
        </p:nvSpPr>
        <p:spPr>
          <a:xfrm>
            <a:off x="502920" y="2057400"/>
            <a:ext cx="63720" cy="18741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" name="TextBox 112"/>
          <p:cNvSpPr/>
          <p:nvPr/>
        </p:nvSpPr>
        <p:spPr>
          <a:xfrm>
            <a:off x="649080" y="214884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1. Measure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13"/>
          <p:cNvSpPr/>
          <p:nvPr/>
        </p:nvSpPr>
        <p:spPr>
          <a:xfrm>
            <a:off x="649080" y="2532960"/>
            <a:ext cx="15724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Two temperature sensors sample the same test object.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14"/>
          <p:cNvSpPr/>
          <p:nvPr/>
        </p:nvSpPr>
        <p:spPr>
          <a:xfrm>
            <a:off x="2468880" y="2057400"/>
            <a:ext cx="1828440" cy="18741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3" name="Rectangle 115"/>
          <p:cNvSpPr/>
          <p:nvPr/>
        </p:nvSpPr>
        <p:spPr>
          <a:xfrm>
            <a:off x="2468880" y="2057400"/>
            <a:ext cx="63720" cy="187416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4" name="TextBox 116"/>
          <p:cNvSpPr/>
          <p:nvPr/>
        </p:nvSpPr>
        <p:spPr>
          <a:xfrm>
            <a:off x="2615040" y="214884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2. Process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7"/>
          <p:cNvSpPr/>
          <p:nvPr/>
        </p:nvSpPr>
        <p:spPr>
          <a:xfrm>
            <a:off x="2615040" y="2532960"/>
            <a:ext cx="15724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Filter noise; calculate disagreement and rate of change.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18"/>
          <p:cNvSpPr/>
          <p:nvPr/>
        </p:nvSpPr>
        <p:spPr>
          <a:xfrm>
            <a:off x="4434840" y="2057400"/>
            <a:ext cx="1828440" cy="18741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7" name="Rectangle 119"/>
          <p:cNvSpPr/>
          <p:nvPr/>
        </p:nvSpPr>
        <p:spPr>
          <a:xfrm>
            <a:off x="4434840" y="2057400"/>
            <a:ext cx="63720" cy="187416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8" name="TextBox 120"/>
          <p:cNvSpPr/>
          <p:nvPr/>
        </p:nvSpPr>
        <p:spPr>
          <a:xfrm>
            <a:off x="4581000" y="214884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3. Diagnose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21"/>
          <p:cNvSpPr/>
          <p:nvPr/>
        </p:nvSpPr>
        <p:spPr>
          <a:xfrm>
            <a:off x="4581000" y="2532960"/>
            <a:ext cx="15724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Check open circuit, drift, stuck readings and abnormal noise.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22"/>
          <p:cNvSpPr/>
          <p:nvPr/>
        </p:nvSpPr>
        <p:spPr>
          <a:xfrm>
            <a:off x="6400800" y="2057400"/>
            <a:ext cx="1828440" cy="18741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1" name="Rectangle 123"/>
          <p:cNvSpPr/>
          <p:nvPr/>
        </p:nvSpPr>
        <p:spPr>
          <a:xfrm>
            <a:off x="6400800" y="2057400"/>
            <a:ext cx="63720" cy="18741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2" name="TextBox 124"/>
          <p:cNvSpPr/>
          <p:nvPr/>
        </p:nvSpPr>
        <p:spPr>
          <a:xfrm>
            <a:off x="6546960" y="214884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4. Report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5"/>
          <p:cNvSpPr/>
          <p:nvPr/>
        </p:nvSpPr>
        <p:spPr>
          <a:xfrm>
            <a:off x="6546960" y="2532960"/>
            <a:ext cx="15724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Show normal, likely process change, sensor fault or uncertain.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26"/>
          <p:cNvSpPr/>
          <p:nvPr/>
        </p:nvSpPr>
        <p:spPr>
          <a:xfrm>
            <a:off x="731520" y="457200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USP to validate: low-cost, on-device sensor-health checks with explicit “uncertain” status—not just a fixed temperature alarm.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Application Opportunity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15;p5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Rectangle 115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8" name="TextBox 116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Initial focus is a demonstrable instrumentation use case, not an unverified market-size claim.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17"/>
          <p:cNvSpPr/>
          <p:nvPr/>
        </p:nvSpPr>
        <p:spPr>
          <a:xfrm>
            <a:off x="548640" y="201168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0" name="Rectangle 118"/>
          <p:cNvSpPr/>
          <p:nvPr/>
        </p:nvSpPr>
        <p:spPr>
          <a:xfrm>
            <a:off x="548640" y="2011680"/>
            <a:ext cx="63720" cy="214848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1" name="TextBox 119"/>
          <p:cNvSpPr/>
          <p:nvPr/>
        </p:nvSpPr>
        <p:spPr>
          <a:xfrm>
            <a:off x="69480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Primary users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20"/>
          <p:cNvSpPr/>
          <p:nvPr/>
        </p:nvSpPr>
        <p:spPr>
          <a:xfrm>
            <a:off x="694800" y="2487240"/>
            <a:ext cx="216684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Instrumentation labs, student project teams and small equipment-monitoring setups.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21"/>
          <p:cNvSpPr/>
          <p:nvPr/>
        </p:nvSpPr>
        <p:spPr>
          <a:xfrm>
            <a:off x="3154680" y="201168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" name="Rectangle 122"/>
          <p:cNvSpPr/>
          <p:nvPr/>
        </p:nvSpPr>
        <p:spPr>
          <a:xfrm>
            <a:off x="3154680" y="2011680"/>
            <a:ext cx="63720" cy="214848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" name="TextBox 123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Potential adopters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24"/>
          <p:cNvSpPr/>
          <p:nvPr/>
        </p:nvSpPr>
        <p:spPr>
          <a:xfrm>
            <a:off x="3292920" y="269064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Training labs and small facilities that need to demonstrate sensor fault behaviour.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25"/>
          <p:cNvSpPr/>
          <p:nvPr/>
        </p:nvSpPr>
        <p:spPr>
          <a:xfrm>
            <a:off x="5760720" y="201168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8" name="Rectangle 126"/>
          <p:cNvSpPr/>
          <p:nvPr/>
        </p:nvSpPr>
        <p:spPr>
          <a:xfrm>
            <a:off x="5760720" y="2011680"/>
            <a:ext cx="63720" cy="214848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9" name="TextBox 127"/>
          <p:cNvSpPr/>
          <p:nvPr/>
        </p:nvSpPr>
        <p:spPr>
          <a:xfrm>
            <a:off x="590688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Value to test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8"/>
          <p:cNvSpPr/>
          <p:nvPr/>
        </p:nvSpPr>
        <p:spPr>
          <a:xfrm>
            <a:off x="5906880" y="2487240"/>
            <a:ext cx="216684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Earlier recognition of suspect measurements; fewer avoidable false alarms in defined tests.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29"/>
          <p:cNvSpPr/>
          <p:nvPr/>
        </p:nvSpPr>
        <p:spPr>
          <a:xfrm>
            <a:off x="731520" y="461772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Market sizing (TAM/SAM/SOM): to be researched after the prototype scope and target deployment are validated.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Product Details / Prototype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122;p6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angle 122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5" name="TextBox 123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Proposed physical demonstrator: two sensor channels, ESP32, diagnostic firmware and a simple output.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24"/>
          <p:cNvSpPr/>
          <p:nvPr/>
        </p:nvSpPr>
        <p:spPr>
          <a:xfrm>
            <a:off x="731520" y="2057400"/>
            <a:ext cx="1828440" cy="685440"/>
          </a:xfrm>
          <a:prstGeom prst="roundRect">
            <a:avLst>
              <a:gd name="adj" fmla="val 16667"/>
            </a:avLst>
          </a:prstGeom>
          <a:solidFill>
            <a:srgbClr val="0d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7" name="TextBox 125"/>
          <p:cNvSpPr/>
          <p:nvPr/>
        </p:nvSpPr>
        <p:spPr>
          <a:xfrm>
            <a:off x="822960" y="221292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Test object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26"/>
          <p:cNvSpPr/>
          <p:nvPr/>
        </p:nvSpPr>
        <p:spPr>
          <a:xfrm>
            <a:off x="685800" y="3063240"/>
            <a:ext cx="914040" cy="59400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" name="TextBox 127"/>
          <p:cNvSpPr/>
          <p:nvPr/>
        </p:nvSpPr>
        <p:spPr>
          <a:xfrm>
            <a:off x="73152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2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Sensor 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28"/>
          <p:cNvSpPr/>
          <p:nvPr/>
        </p:nvSpPr>
        <p:spPr>
          <a:xfrm>
            <a:off x="1737360" y="3063240"/>
            <a:ext cx="914040" cy="59400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" name="TextBox 129"/>
          <p:cNvSpPr/>
          <p:nvPr/>
        </p:nvSpPr>
        <p:spPr>
          <a:xfrm>
            <a:off x="178308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2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Sensor B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30"/>
          <p:cNvSpPr/>
          <p:nvPr/>
        </p:nvSpPr>
        <p:spPr>
          <a:xfrm>
            <a:off x="3108960" y="2560320"/>
            <a:ext cx="1965600" cy="1005480"/>
          </a:xfrm>
          <a:prstGeom prst="roundRect">
            <a:avLst>
              <a:gd name="adj" fmla="val 16667"/>
            </a:avLst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3" name="TextBox 131"/>
          <p:cNvSpPr/>
          <p:nvPr/>
        </p:nvSpPr>
        <p:spPr>
          <a:xfrm>
            <a:off x="3246120" y="278892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5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ESP32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ADC + firmware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32"/>
          <p:cNvSpPr/>
          <p:nvPr/>
        </p:nvSpPr>
        <p:spPr>
          <a:xfrm>
            <a:off x="5715000" y="256032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0d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5" name="TextBox 133"/>
          <p:cNvSpPr/>
          <p:nvPr/>
        </p:nvSpPr>
        <p:spPr>
          <a:xfrm>
            <a:off x="5852160" y="27889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Serial / OLED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Status + logs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Connector 134"/>
          <p:cNvCxnSpPr/>
          <p:nvPr/>
        </p:nvCxnSpPr>
        <p:spPr>
          <a:xfrm flipV="1">
            <a:off x="2560320" y="2971800"/>
            <a:ext cx="549000" cy="366120"/>
          </a:xfrm>
          <a:prstGeom prst="straightConnector1">
            <a:avLst/>
          </a:prstGeom>
          <a:ln>
            <a:solidFill>
              <a:srgbClr val="009999"/>
            </a:solidFill>
            <a:round/>
          </a:ln>
        </p:spPr>
      </p:cxnSp>
      <p:cxnSp>
        <p:nvCxnSpPr>
          <p:cNvPr id="137" name="Connector 135"/>
          <p:cNvCxnSpPr/>
          <p:nvPr/>
        </p:nvCxnSpPr>
        <p:spPr>
          <a:xfrm flipV="1">
            <a:off x="2651760" y="3246120"/>
            <a:ext cx="457560" cy="91800"/>
          </a:xfrm>
          <a:prstGeom prst="straightConnector1">
            <a:avLst/>
          </a:prstGeom>
          <a:ln>
            <a:solidFill>
              <a:srgbClr val="009999"/>
            </a:solidFill>
            <a:round/>
          </a:ln>
        </p:spPr>
      </p:cxnSp>
      <p:cxnSp>
        <p:nvCxnSpPr>
          <p:cNvPr id="138" name="Connector 136"/>
          <p:cNvCxnSpPr/>
          <p:nvPr/>
        </p:nvCxnSpPr>
        <p:spPr>
          <a:xfrm>
            <a:off x="5074920" y="3063240"/>
            <a:ext cx="640440" cy="360"/>
          </a:xfrm>
          <a:prstGeom prst="straightConnector1">
            <a:avLst/>
          </a:prstGeom>
          <a:ln>
            <a:solidFill>
              <a:srgbClr val="009999"/>
            </a:solidFill>
            <a:round/>
          </a:ln>
        </p:spPr>
      </p:cxnSp>
      <p:sp>
        <p:nvSpPr>
          <p:cNvPr id="139" name="TextBox 137"/>
          <p:cNvSpPr/>
          <p:nvPr/>
        </p:nvSpPr>
        <p:spPr>
          <a:xfrm>
            <a:off x="640080" y="4251960"/>
            <a:ext cx="7863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5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Development stage: IDEA / planned prototype.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5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Hardware shortlist: ESP32, 2 × temperature sensors, resistor network, breadboard, USB serial output. No experimental results are claimed yet.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Adoption / Sustainability Model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Google Shape;129;p7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Rectangle 129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3" name="TextBox 130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This is an engineering project; a startup is not required for the concept to have value.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31"/>
          <p:cNvSpPr/>
          <p:nvPr/>
        </p:nvSpPr>
        <p:spPr>
          <a:xfrm>
            <a:off x="594360" y="2103120"/>
            <a:ext cx="2422800" cy="20570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5" name="Rectangle 132"/>
          <p:cNvSpPr/>
          <p:nvPr/>
        </p:nvSpPr>
        <p:spPr>
          <a:xfrm>
            <a:off x="594360" y="2103120"/>
            <a:ext cx="63720" cy="205704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6" name="TextBox 133"/>
          <p:cNvSpPr/>
          <p:nvPr/>
        </p:nvSpPr>
        <p:spPr>
          <a:xfrm>
            <a:off x="740520" y="219456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Open demonstrator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34"/>
          <p:cNvSpPr/>
          <p:nvPr/>
        </p:nvSpPr>
        <p:spPr>
          <a:xfrm>
            <a:off x="732600" y="2674080"/>
            <a:ext cx="216684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Document the circuit, firmware logic and reproducible test procedure for educational use.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35"/>
          <p:cNvSpPr/>
          <p:nvPr/>
        </p:nvSpPr>
        <p:spPr>
          <a:xfrm>
            <a:off x="3154680" y="2103120"/>
            <a:ext cx="2422800" cy="20570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9" name="Rectangle 136"/>
          <p:cNvSpPr/>
          <p:nvPr/>
        </p:nvSpPr>
        <p:spPr>
          <a:xfrm>
            <a:off x="3154680" y="2103120"/>
            <a:ext cx="63720" cy="205704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0" name="TextBox 137"/>
          <p:cNvSpPr/>
          <p:nvPr/>
        </p:nvSpPr>
        <p:spPr>
          <a:xfrm>
            <a:off x="3300840" y="219456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Low-cost build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8"/>
          <p:cNvSpPr/>
          <p:nvPr/>
        </p:nvSpPr>
        <p:spPr>
          <a:xfrm>
            <a:off x="3300840" y="2578680"/>
            <a:ext cx="216684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Use commonly available development boards and sensors; borrow lab equipment where possible.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39"/>
          <p:cNvSpPr/>
          <p:nvPr/>
        </p:nvSpPr>
        <p:spPr>
          <a:xfrm>
            <a:off x="5715000" y="2103120"/>
            <a:ext cx="2422800" cy="20570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" name="Rectangle 140"/>
          <p:cNvSpPr/>
          <p:nvPr/>
        </p:nvSpPr>
        <p:spPr>
          <a:xfrm>
            <a:off x="5715000" y="2103120"/>
            <a:ext cx="63720" cy="205704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4" name="TextBox 141"/>
          <p:cNvSpPr/>
          <p:nvPr/>
        </p:nvSpPr>
        <p:spPr>
          <a:xfrm>
            <a:off x="5861160" y="219456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Long-term pathway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42"/>
          <p:cNvSpPr/>
          <p:nvPr/>
        </p:nvSpPr>
        <p:spPr>
          <a:xfrm>
            <a:off x="5884920" y="274536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If validated, the method could be adapted to other sensors and training rigs.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43"/>
          <p:cNvSpPr/>
          <p:nvPr/>
        </p:nvSpPr>
        <p:spPr>
          <a:xfrm>
            <a:off x="777240" y="46177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Any cost estimate will be based on actual component quotations; no revenue or pricing claims are made.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Engineering Plan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Google Shape;135;g38a92f4aca8_0_0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Rectangle 135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0" name="TextBox 136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A measurable prototype plan with defined milestones and test evidence.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37"/>
          <p:cNvSpPr/>
          <p:nvPr/>
        </p:nvSpPr>
        <p:spPr>
          <a:xfrm>
            <a:off x="59436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2" name="Rectangle 138"/>
          <p:cNvSpPr/>
          <p:nvPr/>
        </p:nvSpPr>
        <p:spPr>
          <a:xfrm>
            <a:off x="594360" y="2011680"/>
            <a:ext cx="63720" cy="23313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" name="TextBox 139"/>
          <p:cNvSpPr/>
          <p:nvPr/>
        </p:nvSpPr>
        <p:spPr>
          <a:xfrm>
            <a:off x="74052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Phase 1 · Build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40"/>
          <p:cNvSpPr/>
          <p:nvPr/>
        </p:nvSpPr>
        <p:spPr>
          <a:xfrm>
            <a:off x="740520" y="2487240"/>
            <a:ext cx="21668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Wire two sensors; calibrate against a reference thermometer; log baseline readings.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41"/>
          <p:cNvSpPr/>
          <p:nvPr/>
        </p:nvSpPr>
        <p:spPr>
          <a:xfrm>
            <a:off x="315468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" name="Rectangle 142"/>
          <p:cNvSpPr/>
          <p:nvPr/>
        </p:nvSpPr>
        <p:spPr>
          <a:xfrm>
            <a:off x="3154680" y="2011680"/>
            <a:ext cx="63720" cy="233136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7" name="TextBox 143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Phase 2 · Diagnose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44"/>
          <p:cNvSpPr/>
          <p:nvPr/>
        </p:nvSpPr>
        <p:spPr>
          <a:xfrm>
            <a:off x="3300840" y="269064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Implement filtering, disagreement, rate-of-change, stuck-value and open-circuit checks.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45"/>
          <p:cNvSpPr/>
          <p:nvPr/>
        </p:nvSpPr>
        <p:spPr>
          <a:xfrm>
            <a:off x="571500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0" name="Rectangle 146"/>
          <p:cNvSpPr/>
          <p:nvPr/>
        </p:nvSpPr>
        <p:spPr>
          <a:xfrm>
            <a:off x="5715000" y="2011680"/>
            <a:ext cx="63720" cy="233136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1" name="TextBox 147"/>
          <p:cNvSpPr/>
          <p:nvPr/>
        </p:nvSpPr>
        <p:spPr>
          <a:xfrm>
            <a:off x="586116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Phase 3 · Validate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48"/>
          <p:cNvSpPr/>
          <p:nvPr/>
        </p:nvSpPr>
        <p:spPr>
          <a:xfrm>
            <a:off x="5861160" y="2487240"/>
            <a:ext cx="21668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Inject controlled faults; measure detection rate, latency and false alarms.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49"/>
          <p:cNvSpPr/>
          <p:nvPr/>
        </p:nvSpPr>
        <p:spPr>
          <a:xfrm>
            <a:off x="777240" y="480060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4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Success criteria will be set before testing; results will be reported honestly, including failures and limitations.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Competitive / Technical Comparison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Google Shape;142;p8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42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7" name="TextBox 143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Compare against simple baselines, not unsupported claims about being first.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44"/>
          <p:cNvSpPr/>
          <p:nvPr/>
        </p:nvSpPr>
        <p:spPr>
          <a:xfrm>
            <a:off x="59436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9" name="Rectangle 145"/>
          <p:cNvSpPr/>
          <p:nvPr/>
        </p:nvSpPr>
        <p:spPr>
          <a:xfrm>
            <a:off x="594360" y="2011680"/>
            <a:ext cx="63720" cy="233136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0" name="TextBox 146"/>
          <p:cNvSpPr/>
          <p:nvPr/>
        </p:nvSpPr>
        <p:spPr>
          <a:xfrm>
            <a:off x="74052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Fixed threshold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47"/>
          <p:cNvSpPr/>
          <p:nvPr/>
        </p:nvSpPr>
        <p:spPr>
          <a:xfrm>
            <a:off x="740520" y="2487240"/>
            <a:ext cx="21668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Flags temperature above a limit; cannot by itself tell whether the sensor is faulty.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48"/>
          <p:cNvSpPr/>
          <p:nvPr/>
        </p:nvSpPr>
        <p:spPr>
          <a:xfrm>
            <a:off x="315468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3" name="Rectangle 149"/>
          <p:cNvSpPr/>
          <p:nvPr/>
        </p:nvSpPr>
        <p:spPr>
          <a:xfrm>
            <a:off x="3154680" y="2011680"/>
            <a:ext cx="63720" cy="233136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4" name="TextBox 150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Two-sensor threshold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51"/>
          <p:cNvSpPr/>
          <p:nvPr/>
        </p:nvSpPr>
        <p:spPr>
          <a:xfrm>
            <a:off x="3300840" y="269064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Detects disagreement but can misclassify real local gradients or common-mode faults.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52"/>
          <p:cNvSpPr/>
          <p:nvPr/>
        </p:nvSpPr>
        <p:spPr>
          <a:xfrm>
            <a:off x="571500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" name="Rectangle 153"/>
          <p:cNvSpPr/>
          <p:nvPr/>
        </p:nvSpPr>
        <p:spPr>
          <a:xfrm>
            <a:off x="5715000" y="2011680"/>
            <a:ext cx="63720" cy="23313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8" name="TextBox 154"/>
          <p:cNvSpPr/>
          <p:nvPr/>
        </p:nvSpPr>
        <p:spPr>
          <a:xfrm>
            <a:off x="586116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SENSEGuard concept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55"/>
          <p:cNvSpPr/>
          <p:nvPr/>
        </p:nvSpPr>
        <p:spPr>
          <a:xfrm>
            <a:off x="5861160" y="2657880"/>
            <a:ext cx="21668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Combines disagreement, signal plausibility and temporal behaviour; includes an uncertain state.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56"/>
          <p:cNvSpPr/>
          <p:nvPr/>
        </p:nvSpPr>
        <p:spPr>
          <a:xfrm>
            <a:off x="777240" y="47548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Differentiation must be demonstrated through controlled tests and baseline comparison. Existing sensor fault-detection methods are acknowledged.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600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Validation &amp; Deployment Strategy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Google Shape;149;p9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49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4" name="TextBox 150"/>
          <p:cNvSpPr/>
          <p:nvPr/>
        </p:nvSpPr>
        <p:spPr>
          <a:xfrm>
            <a:off x="502920" y="1481400"/>
            <a:ext cx="8046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Start in a controlled lab environment before considering real industrial use.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51"/>
          <p:cNvSpPr/>
          <p:nvPr/>
        </p:nvSpPr>
        <p:spPr>
          <a:xfrm>
            <a:off x="594360" y="2011680"/>
            <a:ext cx="2422800" cy="219420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6" name="Rectangle 152"/>
          <p:cNvSpPr/>
          <p:nvPr/>
        </p:nvSpPr>
        <p:spPr>
          <a:xfrm>
            <a:off x="594360" y="2011680"/>
            <a:ext cx="63720" cy="219420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7" name="TextBox 153"/>
          <p:cNvSpPr/>
          <p:nvPr/>
        </p:nvSpPr>
        <p:spPr>
          <a:xfrm>
            <a:off x="74052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1 · Lab rig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54"/>
          <p:cNvSpPr/>
          <p:nvPr/>
        </p:nvSpPr>
        <p:spPr>
          <a:xfrm>
            <a:off x="740520" y="2487240"/>
            <a:ext cx="21668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Test on a low-voltage temperature setup with known fault injections.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55"/>
          <p:cNvSpPr/>
          <p:nvPr/>
        </p:nvSpPr>
        <p:spPr>
          <a:xfrm>
            <a:off x="3154680" y="2011680"/>
            <a:ext cx="2422800" cy="219420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0" name="Rectangle 156"/>
          <p:cNvSpPr/>
          <p:nvPr/>
        </p:nvSpPr>
        <p:spPr>
          <a:xfrm>
            <a:off x="3154680" y="2011680"/>
            <a:ext cx="63720" cy="219420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1" name="TextBox 157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2 · Peer review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8"/>
          <p:cNvSpPr/>
          <p:nvPr/>
        </p:nvSpPr>
        <p:spPr>
          <a:xfrm>
            <a:off x="3300840" y="2487240"/>
            <a:ext cx="21668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Ask instrumentation faculty and lab users to review test cases and false alarms.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59"/>
          <p:cNvSpPr/>
          <p:nvPr/>
        </p:nvSpPr>
        <p:spPr>
          <a:xfrm>
            <a:off x="5715000" y="2011680"/>
            <a:ext cx="2422800" cy="219420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4" name="Rectangle 160"/>
          <p:cNvSpPr/>
          <p:nvPr/>
        </p:nvSpPr>
        <p:spPr>
          <a:xfrm>
            <a:off x="5715000" y="2011680"/>
            <a:ext cx="63720" cy="219420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5" name="TextBox 161"/>
          <p:cNvSpPr/>
          <p:nvPr/>
        </p:nvSpPr>
        <p:spPr>
          <a:xfrm>
            <a:off x="586116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3 · Extend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62"/>
          <p:cNvSpPr/>
          <p:nvPr/>
        </p:nvSpPr>
        <p:spPr>
          <a:xfrm>
            <a:off x="5861160" y="2487240"/>
            <a:ext cx="21668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Only after validation, explore pressure, level or other sensor channels.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63"/>
          <p:cNvSpPr/>
          <p:nvPr/>
        </p:nvSpPr>
        <p:spPr>
          <a:xfrm>
            <a:off x="777240" y="461772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Not intended for safety-critical control or industrial deployment until reliability and failure modes are thoroughly validated.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Team &amp; Responsibilities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156;p10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Rectangle 156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1" name="Rounded Rectangle 158"/>
          <p:cNvSpPr/>
          <p:nvPr/>
        </p:nvSpPr>
        <p:spPr>
          <a:xfrm>
            <a:off x="59436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2" name="Rectangle 159"/>
          <p:cNvSpPr/>
          <p:nvPr/>
        </p:nvSpPr>
        <p:spPr>
          <a:xfrm>
            <a:off x="594360" y="2011680"/>
            <a:ext cx="63720" cy="23313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3" name="TextBox 160"/>
          <p:cNvSpPr/>
          <p:nvPr/>
        </p:nvSpPr>
        <p:spPr>
          <a:xfrm>
            <a:off x="74052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Embedded firmware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61"/>
          <p:cNvSpPr/>
          <p:nvPr/>
        </p:nvSpPr>
        <p:spPr>
          <a:xfrm>
            <a:off x="732600" y="2653920"/>
            <a:ext cx="21668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BYTECRAFT — ADC acquisition, filtering, fault logic and serial logging.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62"/>
          <p:cNvSpPr/>
          <p:nvPr/>
        </p:nvSpPr>
        <p:spPr>
          <a:xfrm>
            <a:off x="315468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" name="Rectangle 163"/>
          <p:cNvSpPr/>
          <p:nvPr/>
        </p:nvSpPr>
        <p:spPr>
          <a:xfrm>
            <a:off x="3154680" y="2011680"/>
            <a:ext cx="63720" cy="233136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" name="TextBox 164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Instrumentation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65"/>
          <p:cNvSpPr/>
          <p:nvPr/>
        </p:nvSpPr>
        <p:spPr>
          <a:xfrm>
            <a:off x="3300840" y="2487240"/>
            <a:ext cx="21668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BYTECRAFT — sensor calibration, circuit design and uncertainty analysis.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166"/>
          <p:cNvSpPr/>
          <p:nvPr/>
        </p:nvSpPr>
        <p:spPr>
          <a:xfrm>
            <a:off x="5715000" y="2011680"/>
            <a:ext cx="2422800" cy="233136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0" name="Rectangle 167"/>
          <p:cNvSpPr/>
          <p:nvPr/>
        </p:nvSpPr>
        <p:spPr>
          <a:xfrm>
            <a:off x="5715000" y="2011680"/>
            <a:ext cx="63720" cy="233136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" name="TextBox 168"/>
          <p:cNvSpPr/>
          <p:nvPr/>
        </p:nvSpPr>
        <p:spPr>
          <a:xfrm>
            <a:off x="586116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Testing &amp; pitch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69"/>
          <p:cNvSpPr/>
          <p:nvPr/>
        </p:nvSpPr>
        <p:spPr>
          <a:xfrm>
            <a:off x="5861160" y="248724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BYTECRAFT — fault-injection protocol, results, documentation and presentation.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Current Progress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Google Shape;163;p11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Rectangle 163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" name="TextBox 164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Concept definition completed; physical implementation and validation are planned, not yet claimed.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65"/>
          <p:cNvSpPr/>
          <p:nvPr/>
        </p:nvSpPr>
        <p:spPr>
          <a:xfrm>
            <a:off x="594360" y="205740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8" name="Rectangle 166"/>
          <p:cNvSpPr/>
          <p:nvPr/>
        </p:nvSpPr>
        <p:spPr>
          <a:xfrm>
            <a:off x="594360" y="2057400"/>
            <a:ext cx="63720" cy="214848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9" name="TextBox 167"/>
          <p:cNvSpPr/>
          <p:nvPr/>
        </p:nvSpPr>
        <p:spPr>
          <a:xfrm>
            <a:off x="740520" y="214884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Completed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68"/>
          <p:cNvSpPr/>
          <p:nvPr/>
        </p:nvSpPr>
        <p:spPr>
          <a:xfrm>
            <a:off x="740520" y="2532960"/>
            <a:ext cx="216684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Problem framing, initial architecture and candidate diagnostic tests.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69"/>
          <p:cNvSpPr/>
          <p:nvPr/>
        </p:nvSpPr>
        <p:spPr>
          <a:xfrm>
            <a:off x="3154680" y="205740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2" name="Rectangle 170"/>
          <p:cNvSpPr/>
          <p:nvPr/>
        </p:nvSpPr>
        <p:spPr>
          <a:xfrm>
            <a:off x="3154680" y="2057400"/>
            <a:ext cx="63720" cy="214848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3" name="TextBox 171"/>
          <p:cNvSpPr/>
          <p:nvPr/>
        </p:nvSpPr>
        <p:spPr>
          <a:xfrm>
            <a:off x="3300840" y="214884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In progress next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72"/>
          <p:cNvSpPr/>
          <p:nvPr/>
        </p:nvSpPr>
        <p:spPr>
          <a:xfrm>
            <a:off x="3300840" y="2532960"/>
            <a:ext cx="216684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Select available board and sensors; build calibrated dual-channel acquisition.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73"/>
          <p:cNvSpPr/>
          <p:nvPr/>
        </p:nvSpPr>
        <p:spPr>
          <a:xfrm>
            <a:off x="5715000" y="2057400"/>
            <a:ext cx="2422800" cy="214848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" name="Rectangle 174"/>
          <p:cNvSpPr/>
          <p:nvPr/>
        </p:nvSpPr>
        <p:spPr>
          <a:xfrm>
            <a:off x="5715000" y="2057400"/>
            <a:ext cx="63720" cy="214848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" name="TextBox 175"/>
          <p:cNvSpPr/>
          <p:nvPr/>
        </p:nvSpPr>
        <p:spPr>
          <a:xfrm>
            <a:off x="5861160" y="214884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Evidence needed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76"/>
          <p:cNvSpPr/>
          <p:nvPr/>
        </p:nvSpPr>
        <p:spPr>
          <a:xfrm>
            <a:off x="5861160" y="2532960"/>
            <a:ext cx="216684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Baseline data, fault-injection results, detection delay and false-alarm rate.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77"/>
          <p:cNvSpPr/>
          <p:nvPr/>
        </p:nvSpPr>
        <p:spPr>
          <a:xfrm>
            <a:off x="777240" y="46634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No prototype performance, pilot feedback, awards or grants are claimed at this stage.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Roadmap / Future Plan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Google Shape;170;p12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Rectangle 170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" name="TextBox 171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Proposed 6-month roadmap, within the programme’s one-year planning horizon.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172"/>
          <p:cNvSpPr/>
          <p:nvPr/>
        </p:nvSpPr>
        <p:spPr>
          <a:xfrm>
            <a:off x="502920" y="2011680"/>
            <a:ext cx="1874160" cy="22399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5" name="Rectangle 173"/>
          <p:cNvSpPr/>
          <p:nvPr/>
        </p:nvSpPr>
        <p:spPr>
          <a:xfrm>
            <a:off x="502920" y="2011680"/>
            <a:ext cx="63720" cy="22399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" name="TextBox 174"/>
          <p:cNvSpPr/>
          <p:nvPr/>
        </p:nvSpPr>
        <p:spPr>
          <a:xfrm>
            <a:off x="649080" y="2103120"/>
            <a:ext cx="162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Month 1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75"/>
          <p:cNvSpPr/>
          <p:nvPr/>
        </p:nvSpPr>
        <p:spPr>
          <a:xfrm>
            <a:off x="649080" y="2487240"/>
            <a:ext cx="161820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Parts, circuit, sensor calibration and baseline logging.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76"/>
          <p:cNvSpPr/>
          <p:nvPr/>
        </p:nvSpPr>
        <p:spPr>
          <a:xfrm>
            <a:off x="2514600" y="2011680"/>
            <a:ext cx="1874160" cy="22399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9" name="Rectangle 177"/>
          <p:cNvSpPr/>
          <p:nvPr/>
        </p:nvSpPr>
        <p:spPr>
          <a:xfrm>
            <a:off x="2514600" y="2011680"/>
            <a:ext cx="63720" cy="223992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0" name="TextBox 178"/>
          <p:cNvSpPr/>
          <p:nvPr/>
        </p:nvSpPr>
        <p:spPr>
          <a:xfrm>
            <a:off x="2660760" y="2103120"/>
            <a:ext cx="162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Months 2–3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79"/>
          <p:cNvSpPr/>
          <p:nvPr/>
        </p:nvSpPr>
        <p:spPr>
          <a:xfrm>
            <a:off x="2660760" y="2487240"/>
            <a:ext cx="161820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Fault rules, filtering, serial interface and repeatable tests.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80"/>
          <p:cNvSpPr/>
          <p:nvPr/>
        </p:nvSpPr>
        <p:spPr>
          <a:xfrm>
            <a:off x="4526280" y="2011680"/>
            <a:ext cx="1874160" cy="22399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3" name="Rectangle 181"/>
          <p:cNvSpPr/>
          <p:nvPr/>
        </p:nvSpPr>
        <p:spPr>
          <a:xfrm>
            <a:off x="4526280" y="2011680"/>
            <a:ext cx="63720" cy="223992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4" name="TextBox 182"/>
          <p:cNvSpPr/>
          <p:nvPr/>
        </p:nvSpPr>
        <p:spPr>
          <a:xfrm>
            <a:off x="4672440" y="2103120"/>
            <a:ext cx="162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Months 4–5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83"/>
          <p:cNvSpPr/>
          <p:nvPr/>
        </p:nvSpPr>
        <p:spPr>
          <a:xfrm>
            <a:off x="4672440" y="2487240"/>
            <a:ext cx="161820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Compare baselines; tune thresholds; document limitations.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84"/>
          <p:cNvSpPr/>
          <p:nvPr/>
        </p:nvSpPr>
        <p:spPr>
          <a:xfrm>
            <a:off x="6537960" y="2011680"/>
            <a:ext cx="1874160" cy="223992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7" name="Rectangle 185"/>
          <p:cNvSpPr/>
          <p:nvPr/>
        </p:nvSpPr>
        <p:spPr>
          <a:xfrm>
            <a:off x="6537960" y="2011680"/>
            <a:ext cx="63720" cy="22399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8" name="TextBox 186"/>
          <p:cNvSpPr/>
          <p:nvPr/>
        </p:nvSpPr>
        <p:spPr>
          <a:xfrm>
            <a:off x="6684120" y="2103120"/>
            <a:ext cx="162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Month 6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87"/>
          <p:cNvSpPr/>
          <p:nvPr/>
        </p:nvSpPr>
        <p:spPr>
          <a:xfrm>
            <a:off x="6684120" y="2487240"/>
            <a:ext cx="161820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3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Final demo, report and optional TinyML comparison if justified.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88"/>
          <p:cNvSpPr/>
          <p:nvPr/>
        </p:nvSpPr>
        <p:spPr>
          <a:xfrm>
            <a:off x="777240" y="47091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Longer-term extension: generalize the diagnostic framework to additional sensor types.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Support Required from AICF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Google Shape;177;p13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Rectangle 177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4" name="TextBox 178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Support requested to strengthen engineering validity and prototype quality.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79"/>
          <p:cNvSpPr/>
          <p:nvPr/>
        </p:nvSpPr>
        <p:spPr>
          <a:xfrm>
            <a:off x="594360" y="2011680"/>
            <a:ext cx="2422800" cy="22856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6" name="Rectangle 180"/>
          <p:cNvSpPr/>
          <p:nvPr/>
        </p:nvSpPr>
        <p:spPr>
          <a:xfrm>
            <a:off x="594360" y="2011680"/>
            <a:ext cx="63720" cy="228564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7" name="TextBox 181"/>
          <p:cNvSpPr/>
          <p:nvPr/>
        </p:nvSpPr>
        <p:spPr>
          <a:xfrm>
            <a:off x="74052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Technical mentoring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82"/>
          <p:cNvSpPr/>
          <p:nvPr/>
        </p:nvSpPr>
        <p:spPr>
          <a:xfrm>
            <a:off x="740520" y="2724120"/>
            <a:ext cx="21668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Review fault-detection logic, test methodology and novelty positioning.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83"/>
          <p:cNvSpPr/>
          <p:nvPr/>
        </p:nvSpPr>
        <p:spPr>
          <a:xfrm>
            <a:off x="3154680" y="2011680"/>
            <a:ext cx="2422800" cy="22856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0" name="Rectangle 184"/>
          <p:cNvSpPr/>
          <p:nvPr/>
        </p:nvSpPr>
        <p:spPr>
          <a:xfrm>
            <a:off x="3154680" y="2011680"/>
            <a:ext cx="63720" cy="2285640"/>
          </a:xfrm>
          <a:prstGeom prst="rect">
            <a:avLst/>
          </a:prstGeom>
          <a:solidFill>
            <a:srgbClr val="33be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1" name="TextBox 185"/>
          <p:cNvSpPr/>
          <p:nvPr/>
        </p:nvSpPr>
        <p:spPr>
          <a:xfrm>
            <a:off x="330084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Lab access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86"/>
          <p:cNvSpPr/>
          <p:nvPr/>
        </p:nvSpPr>
        <p:spPr>
          <a:xfrm>
            <a:off x="3300840" y="2487240"/>
            <a:ext cx="216684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Reference thermometer, calibrated source, multimeter and basic electronics bench.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87"/>
          <p:cNvSpPr/>
          <p:nvPr/>
        </p:nvSpPr>
        <p:spPr>
          <a:xfrm>
            <a:off x="5715000" y="2011680"/>
            <a:ext cx="2422800" cy="2285640"/>
          </a:xfrm>
          <a:prstGeom prst="roundRect">
            <a:avLst>
              <a:gd name="adj" fmla="val 16667"/>
            </a:avLst>
          </a:prstGeom>
          <a:solidFill>
            <a:srgbClr val="e8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4" name="Rectangle 188"/>
          <p:cNvSpPr/>
          <p:nvPr/>
        </p:nvSpPr>
        <p:spPr>
          <a:xfrm>
            <a:off x="5715000" y="2011680"/>
            <a:ext cx="63720" cy="2285640"/>
          </a:xfrm>
          <a:prstGeom prst="rect">
            <a:avLst/>
          </a:prstGeom>
          <a:solidFill>
            <a:srgbClr val="ed9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5" name="TextBox 189"/>
          <p:cNvSpPr/>
          <p:nvPr/>
        </p:nvSpPr>
        <p:spPr>
          <a:xfrm>
            <a:off x="5861160" y="2103120"/>
            <a:ext cx="217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1600" strike="noStrike" u="none">
                <a:solidFill>
                  <a:srgbClr val="0d2039"/>
                </a:solidFill>
                <a:effectLst/>
                <a:uFillTx/>
                <a:latin typeface="Aptos"/>
                <a:ea typeface="Arial"/>
              </a:rPr>
              <a:t>Prototype feedback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90"/>
          <p:cNvSpPr/>
          <p:nvPr/>
        </p:nvSpPr>
        <p:spPr>
          <a:xfrm>
            <a:off x="5861160" y="2690640"/>
            <a:ext cx="216684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Guidance on reproducibility, sensor fault coverage and presentation of evidence.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91"/>
          <p:cNvSpPr/>
          <p:nvPr/>
        </p:nvSpPr>
        <p:spPr>
          <a:xfrm>
            <a:off x="777240" y="47091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4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Funding is not assumed; priority is access to equipment and technical feedback.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09800" rIns="109800" tIns="73080" bIns="45720" anchor="ctr">
            <a:normAutofit/>
          </a:bodyPr>
          <a:p>
            <a:pPr indent="0" algn="ctr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-IN" sz="3000" strike="noStrike" u="none">
                <a:solidFill>
                  <a:srgbClr val="0d2039"/>
                </a:solidFill>
                <a:effectLst/>
                <a:uFillTx/>
                <a:latin typeface="Aptos"/>
                <a:ea typeface="Calibri"/>
              </a:rPr>
              <a:t>Thank You | Questions?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Google Shape;184;p14" descr=""/>
          <p:cNvPicPr/>
          <p:nvPr/>
        </p:nvPicPr>
        <p:blipFill>
          <a:blip r:embed="rId1"/>
          <a:stretch/>
        </p:blipFill>
        <p:spPr>
          <a:xfrm>
            <a:off x="7974000" y="663120"/>
            <a:ext cx="799920" cy="8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Rectangle 184"/>
          <p:cNvSpPr/>
          <p:nvPr/>
        </p:nvSpPr>
        <p:spPr>
          <a:xfrm>
            <a:off x="457200" y="1353240"/>
            <a:ext cx="959760" cy="637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1" name="TextBox 185"/>
          <p:cNvSpPr/>
          <p:nvPr/>
        </p:nvSpPr>
        <p:spPr>
          <a:xfrm>
            <a:off x="502920" y="1481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SENSEGuard — make sensor readings more trustworthy.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86"/>
          <p:cNvSpPr/>
          <p:nvPr/>
        </p:nvSpPr>
        <p:spPr>
          <a:xfrm>
            <a:off x="914400" y="2148840"/>
            <a:ext cx="7314840" cy="1142640"/>
          </a:xfrm>
          <a:prstGeom prst="roundRect">
            <a:avLst>
              <a:gd name="adj" fmla="val 16667"/>
            </a:avLst>
          </a:prstGeom>
          <a:solidFill>
            <a:srgbClr val="0d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3" name="TextBox 187"/>
          <p:cNvSpPr/>
          <p:nvPr/>
        </p:nvSpPr>
        <p:spPr>
          <a:xfrm>
            <a:off x="1143000" y="242316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2100" strike="noStrike" u="none">
                <a:solidFill>
                  <a:srgbClr val="ffffff"/>
                </a:solidFill>
                <a:effectLst/>
                <a:uFillTx/>
                <a:latin typeface="Aptos"/>
                <a:ea typeface="Arial"/>
              </a:rPr>
              <a:t>Detect the fault. Question the measurement. Report uncertainty.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88"/>
          <p:cNvSpPr/>
          <p:nvPr/>
        </p:nvSpPr>
        <p:spPr>
          <a:xfrm>
            <a:off x="1005840" y="3886200"/>
            <a:ext cx="713196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7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Team: BYTECRAFT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7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Contact: sabarishr267@gmail.com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7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Members: Sabarish R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700" strike="noStrike" u="none">
                <a:solidFill>
                  <a:srgbClr val="23303e"/>
                </a:solidFill>
                <a:effectLst/>
                <a:uFillTx/>
                <a:latin typeface="Aptos"/>
                <a:ea typeface="Arial"/>
              </a:rPr>
              <a:t>                   Sahana M 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89"/>
          <p:cNvSpPr/>
          <p:nvPr/>
        </p:nvSpPr>
        <p:spPr>
          <a:xfrm>
            <a:off x="914400" y="5715000"/>
            <a:ext cx="7314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200" strike="noStrike" u="none">
                <a:solidFill>
                  <a:srgbClr val="5e6e7e"/>
                </a:solidFill>
                <a:effectLst/>
                <a:uFillTx/>
                <a:latin typeface="Aptos"/>
                <a:ea typeface="Arial"/>
              </a:rPr>
              <a:t>Concept proposal — prototype results to be added after validation.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LibreOffice/25.2.7.2$Windows_X86_64 LibreOffice_project/5cbfd1ab6520636bb5f7b99185aa69bd7456825d</Application>
  <AppVersion>15.0000</AppVersion>
  <Words>294</Words>
  <Paragraphs>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[Team Name]</dc:creator>
  <dc:description/>
  <dc:language>en-IN</dc:language>
  <cp:lastModifiedBy/>
  <dcterms:modified xsi:type="dcterms:W3CDTF">2026-10-18T19:59:07Z</dcterms:modified>
  <cp:revision>3</cp:revision>
  <dc:subject>Embedded Sensor Integrity and Fault Diagnosis System</dc:subject>
  <dc:title>SENSEGuard — Ideathon 10.0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(4:3)</vt:lpwstr>
  </property>
  <property fmtid="{D5CDD505-2E9C-101B-9397-08002B2CF9AE}" pid="4" name="Slides">
    <vt:i4>15</vt:i4>
  </property>
</Properties>
</file>